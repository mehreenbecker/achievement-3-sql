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DM Serif Display" pitchFamily="2" charset="0"/>
      <p:regular r:id="rId16"/>
    </p:embeddedFont>
    <p:embeddedFont>
      <p:font typeface="Open Sauce" pitchFamily="2" charset="77"/>
      <p:regular r:id="rId17"/>
    </p:embeddedFont>
    <p:embeddedFont>
      <p:font typeface="Open Sauce Bold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631" autoAdjust="0"/>
  </p:normalViewPr>
  <p:slideViewPr>
    <p:cSldViewPr>
      <p:cViewPr>
        <p:scale>
          <a:sx n="70" d="100"/>
          <a:sy n="70" d="100"/>
        </p:scale>
        <p:origin x="64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2460716" y="1882117"/>
            <a:ext cx="13366569" cy="500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Rockbuster Stealth LLC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-7693553" y="2479668"/>
            <a:ext cx="16230600" cy="4077938"/>
          </a:xfrm>
          <a:custGeom>
            <a:avLst/>
            <a:gdLst/>
            <a:ahLst/>
            <a:cxnLst/>
            <a:rect l="l" t="t" r="r" b="b"/>
            <a:pathLst>
              <a:path w="16230600" h="4077938">
                <a:moveTo>
                  <a:pt x="0" y="0"/>
                </a:moveTo>
                <a:lnTo>
                  <a:pt x="16230600" y="0"/>
                </a:lnTo>
                <a:lnTo>
                  <a:pt x="16230600" y="4077938"/>
                </a:lnTo>
                <a:lnTo>
                  <a:pt x="0" y="4077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7460122" y="7600338"/>
            <a:ext cx="3893678" cy="553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Mehreen Becker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166399" y="1233825"/>
            <a:ext cx="3822789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id="4" name="AutoShape 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7613003" y="2896933"/>
            <a:ext cx="2537740" cy="1441119"/>
            <a:chOff x="0" y="0"/>
            <a:chExt cx="3383653" cy="1921492"/>
          </a:xfrm>
        </p:grpSpPr>
        <p:sp>
          <p:nvSpPr>
            <p:cNvPr id="6" name="TextBox 6"/>
            <p:cNvSpPr txBox="1"/>
            <p:nvPr/>
          </p:nvSpPr>
          <p:spPr>
            <a:xfrm>
              <a:off x="0" y="693402"/>
              <a:ext cx="3383653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Business Problem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67086" y="2896933"/>
            <a:ext cx="2537740" cy="955344"/>
            <a:chOff x="0" y="0"/>
            <a:chExt cx="3383653" cy="1273792"/>
          </a:xfrm>
        </p:grpSpPr>
        <p:sp>
          <p:nvSpPr>
            <p:cNvPr id="9" name="TextBox 9"/>
            <p:cNvSpPr txBox="1"/>
            <p:nvPr/>
          </p:nvSpPr>
          <p:spPr>
            <a:xfrm>
              <a:off x="0" y="693402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Goal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721560" y="2896933"/>
            <a:ext cx="2537740" cy="1441119"/>
            <a:chOff x="0" y="0"/>
            <a:chExt cx="3383653" cy="192149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93402"/>
              <a:ext cx="3383653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Revenue Overview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13003" y="5360896"/>
            <a:ext cx="2537740" cy="1441119"/>
            <a:chOff x="0" y="0"/>
            <a:chExt cx="3383653" cy="192149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693402"/>
              <a:ext cx="3383653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Customer Segment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67086" y="5360896"/>
            <a:ext cx="2537740" cy="1441119"/>
            <a:chOff x="0" y="0"/>
            <a:chExt cx="3383653" cy="192149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693402"/>
              <a:ext cx="3383653" cy="1228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Film &amp; Category Analysis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21560" y="5360896"/>
            <a:ext cx="2537740" cy="955344"/>
            <a:chOff x="0" y="0"/>
            <a:chExt cx="3383653" cy="1273792"/>
          </a:xfrm>
        </p:grpSpPr>
        <p:sp>
          <p:nvSpPr>
            <p:cNvPr id="21" name="TextBox 21"/>
            <p:cNvSpPr txBox="1"/>
            <p:nvPr/>
          </p:nvSpPr>
          <p:spPr>
            <a:xfrm>
              <a:off x="0" y="693402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Rental Trends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13003" y="7824859"/>
            <a:ext cx="2537740" cy="955344"/>
            <a:chOff x="0" y="0"/>
            <a:chExt cx="3383653" cy="1273792"/>
          </a:xfrm>
        </p:grpSpPr>
        <p:sp>
          <p:nvSpPr>
            <p:cNvPr id="24" name="TextBox 24"/>
            <p:cNvSpPr txBox="1"/>
            <p:nvPr/>
          </p:nvSpPr>
          <p:spPr>
            <a:xfrm>
              <a:off x="0" y="693402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Findings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67086" y="7824859"/>
            <a:ext cx="2537740" cy="955344"/>
            <a:chOff x="0" y="0"/>
            <a:chExt cx="3383653" cy="1273792"/>
          </a:xfrm>
        </p:grpSpPr>
        <p:sp>
          <p:nvSpPr>
            <p:cNvPr id="27" name="TextBox 27"/>
            <p:cNvSpPr txBox="1"/>
            <p:nvPr/>
          </p:nvSpPr>
          <p:spPr>
            <a:xfrm>
              <a:off x="0" y="693402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Next Steps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3383653" cy="580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8174577" y="2814011"/>
            <a:ext cx="8307875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Declini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 DVD sales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83262" y="2674320"/>
            <a:ext cx="909958" cy="90995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0680" y="2772429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4577" y="4818687"/>
            <a:ext cx="8307875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to understand where customers are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83262" y="4678996"/>
            <a:ext cx="909958" cy="90995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20205" y="4777105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4577" y="6824654"/>
            <a:ext cx="8307875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hat drives revenue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83262" y="6684962"/>
            <a:ext cx="909958" cy="9099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10680" y="6783072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399" y="1233825"/>
            <a:ext cx="3822789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Business Problem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66399" y="3491019"/>
            <a:ext cx="5026555" cy="5026555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6630723" y="3491019"/>
            <a:ext cx="5026555" cy="5026555"/>
            <a:chOff x="0" y="0"/>
            <a:chExt cx="4489857" cy="44898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5047" y="3491019"/>
            <a:ext cx="5026555" cy="5026555"/>
            <a:chOff x="0" y="0"/>
            <a:chExt cx="4489857" cy="4489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567267" y="4470023"/>
            <a:ext cx="1153465" cy="1215337"/>
          </a:xfrm>
          <a:custGeom>
            <a:avLst/>
            <a:gdLst/>
            <a:ahLst/>
            <a:cxnLst/>
            <a:rect l="l" t="t" r="r" b="b"/>
            <a:pathLst>
              <a:path w="1153465" h="1215337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3926777" y="4470023"/>
            <a:ext cx="1363095" cy="1215337"/>
          </a:xfrm>
          <a:custGeom>
            <a:avLst/>
            <a:gdLst/>
            <a:ahLst/>
            <a:cxnLst/>
            <a:rect l="l" t="t" r="r" b="b"/>
            <a:pathLst>
              <a:path w="1363095" h="1215337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166399" y="1233825"/>
            <a:ext cx="382278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1259" y="6243126"/>
            <a:ext cx="4276833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entify our key markets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05583" y="6243126"/>
            <a:ext cx="4276833" cy="109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Figure out our r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evenue drivers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69907" y="6243126"/>
            <a:ext cx="4276833" cy="109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Find our custo</a:t>
            </a:r>
            <a:r>
              <a:rPr lang="en-US" sz="2799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mer segments</a:t>
            </a:r>
          </a:p>
        </p:txBody>
      </p:sp>
      <p:sp>
        <p:nvSpPr>
          <p:cNvPr id="20" name="Freeform 20"/>
          <p:cNvSpPr/>
          <p:nvPr/>
        </p:nvSpPr>
        <p:spPr>
          <a:xfrm>
            <a:off x="2949943" y="4470023"/>
            <a:ext cx="1459466" cy="1215337"/>
          </a:xfrm>
          <a:custGeom>
            <a:avLst/>
            <a:gdLst/>
            <a:ahLst/>
            <a:cxnLst/>
            <a:rect l="l" t="t" r="r" b="b"/>
            <a:pathLst>
              <a:path w="1459466" h="1215337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166399" y="1613814"/>
            <a:ext cx="16092901" cy="8272841"/>
          </a:xfrm>
          <a:custGeom>
            <a:avLst/>
            <a:gdLst/>
            <a:ahLst/>
            <a:cxnLst/>
            <a:rect l="l" t="t" r="r" b="b"/>
            <a:pathLst>
              <a:path w="16092901" h="8272841">
                <a:moveTo>
                  <a:pt x="0" y="0"/>
                </a:moveTo>
                <a:lnTo>
                  <a:pt x="16092901" y="0"/>
                </a:lnTo>
                <a:lnTo>
                  <a:pt x="16092901" y="8272841"/>
                </a:lnTo>
                <a:lnTo>
                  <a:pt x="0" y="8272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687639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Revenue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690383" y="1821014"/>
            <a:ext cx="17004888" cy="7502157"/>
          </a:xfrm>
          <a:custGeom>
            <a:avLst/>
            <a:gdLst/>
            <a:ahLst/>
            <a:cxnLst/>
            <a:rect l="l" t="t" r="r" b="b"/>
            <a:pathLst>
              <a:path w="17004888" h="7502157">
                <a:moveTo>
                  <a:pt x="0" y="0"/>
                </a:moveTo>
                <a:lnTo>
                  <a:pt x="17004888" y="0"/>
                </a:lnTo>
                <a:lnTo>
                  <a:pt x="17004888" y="7502157"/>
                </a:lnTo>
                <a:lnTo>
                  <a:pt x="0" y="7502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687639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Revenue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267606" y="428942"/>
            <a:ext cx="687639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Customer Segment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878523" y="1514158"/>
            <a:ext cx="16530955" cy="8485054"/>
          </a:xfrm>
          <a:custGeom>
            <a:avLst/>
            <a:gdLst/>
            <a:ahLst/>
            <a:cxnLst/>
            <a:rect l="l" t="t" r="r" b="b"/>
            <a:pathLst>
              <a:path w="16530955" h="8485054">
                <a:moveTo>
                  <a:pt x="0" y="0"/>
                </a:moveTo>
                <a:lnTo>
                  <a:pt x="16530954" y="0"/>
                </a:lnTo>
                <a:lnTo>
                  <a:pt x="16530954" y="8485053"/>
                </a:lnTo>
                <a:lnTo>
                  <a:pt x="0" y="8485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3101512" y="1514158"/>
            <a:ext cx="12084976" cy="8294968"/>
          </a:xfrm>
          <a:custGeom>
            <a:avLst/>
            <a:gdLst/>
            <a:ahLst/>
            <a:cxnLst/>
            <a:rect l="l" t="t" r="r" b="b"/>
            <a:pathLst>
              <a:path w="12084976" h="8294968">
                <a:moveTo>
                  <a:pt x="0" y="0"/>
                </a:moveTo>
                <a:lnTo>
                  <a:pt x="12084976" y="0"/>
                </a:lnTo>
                <a:lnTo>
                  <a:pt x="12084976" y="8294967"/>
                </a:lnTo>
                <a:lnTo>
                  <a:pt x="0" y="82949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955455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Customer Segment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244233" y="1514158"/>
            <a:ext cx="15799535" cy="8374826"/>
          </a:xfrm>
          <a:custGeom>
            <a:avLst/>
            <a:gdLst/>
            <a:ahLst/>
            <a:cxnLst/>
            <a:rect l="l" t="t" r="r" b="b"/>
            <a:pathLst>
              <a:path w="15799535" h="8374826">
                <a:moveTo>
                  <a:pt x="0" y="0"/>
                </a:moveTo>
                <a:lnTo>
                  <a:pt x="15799534" y="0"/>
                </a:lnTo>
                <a:lnTo>
                  <a:pt x="15799534" y="8374826"/>
                </a:lnTo>
                <a:lnTo>
                  <a:pt x="0" y="8374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687639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Customer Segment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37441" y="1727039"/>
            <a:ext cx="15213117" cy="7896057"/>
          </a:xfrm>
          <a:custGeom>
            <a:avLst/>
            <a:gdLst/>
            <a:ahLst/>
            <a:cxnLst/>
            <a:rect l="l" t="t" r="r" b="b"/>
            <a:pathLst>
              <a:path w="15213117" h="7896057">
                <a:moveTo>
                  <a:pt x="0" y="0"/>
                </a:moveTo>
                <a:lnTo>
                  <a:pt x="15213118" y="0"/>
                </a:lnTo>
                <a:lnTo>
                  <a:pt x="15213118" y="7896057"/>
                </a:lnTo>
                <a:lnTo>
                  <a:pt x="0" y="7896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950449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Film &amp; Category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067862" y="1514158"/>
            <a:ext cx="16152275" cy="8332705"/>
          </a:xfrm>
          <a:custGeom>
            <a:avLst/>
            <a:gdLst/>
            <a:ahLst/>
            <a:cxnLst/>
            <a:rect l="l" t="t" r="r" b="b"/>
            <a:pathLst>
              <a:path w="16152275" h="8332705">
                <a:moveTo>
                  <a:pt x="0" y="0"/>
                </a:moveTo>
                <a:lnTo>
                  <a:pt x="16152276" y="0"/>
                </a:lnTo>
                <a:lnTo>
                  <a:pt x="16152276" y="8332705"/>
                </a:lnTo>
                <a:lnTo>
                  <a:pt x="0" y="833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267606" y="428942"/>
            <a:ext cx="950449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Rental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348125"/>
            <a:ext cx="495283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764309" y="1572822"/>
            <a:ext cx="5623671" cy="3345981"/>
            <a:chOff x="0" y="0"/>
            <a:chExt cx="7498227" cy="446130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498227" cy="4461308"/>
              <a:chOff x="0" y="0"/>
              <a:chExt cx="136609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6609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66092" h="812800">
                    <a:moveTo>
                      <a:pt x="75563" y="0"/>
                    </a:moveTo>
                    <a:lnTo>
                      <a:pt x="1290530" y="0"/>
                    </a:lnTo>
                    <a:cubicBezTo>
                      <a:pt x="1310570" y="0"/>
                      <a:pt x="1329790" y="7961"/>
                      <a:pt x="1343961" y="22132"/>
                    </a:cubicBezTo>
                    <a:cubicBezTo>
                      <a:pt x="1358131" y="36303"/>
                      <a:pt x="1366092" y="55522"/>
                      <a:pt x="1366092" y="75563"/>
                    </a:cubicBezTo>
                    <a:lnTo>
                      <a:pt x="1366092" y="737237"/>
                    </a:lnTo>
                    <a:cubicBezTo>
                      <a:pt x="1366092" y="778969"/>
                      <a:pt x="1332262" y="812800"/>
                      <a:pt x="1290530" y="812800"/>
                    </a:cubicBezTo>
                    <a:lnTo>
                      <a:pt x="75563" y="812800"/>
                    </a:lnTo>
                    <a:cubicBezTo>
                      <a:pt x="33831" y="812800"/>
                      <a:pt x="0" y="778969"/>
                      <a:pt x="0" y="737237"/>
                    </a:cubicBezTo>
                    <a:lnTo>
                      <a:pt x="0" y="75563"/>
                    </a:lnTo>
                    <a:cubicBezTo>
                      <a:pt x="0" y="33831"/>
                      <a:pt x="33831" y="0"/>
                      <a:pt x="7556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366092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55321" y="1087231"/>
              <a:ext cx="6187586" cy="2172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ames, Travel and Sci-Fi seem to have the highest rental rates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64309" y="5368197"/>
            <a:ext cx="5623671" cy="3345981"/>
            <a:chOff x="0" y="0"/>
            <a:chExt cx="7498227" cy="446130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498227" cy="4461308"/>
              <a:chOff x="0" y="0"/>
              <a:chExt cx="1366092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6609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66092" h="812800">
                    <a:moveTo>
                      <a:pt x="75563" y="0"/>
                    </a:moveTo>
                    <a:lnTo>
                      <a:pt x="1290530" y="0"/>
                    </a:lnTo>
                    <a:cubicBezTo>
                      <a:pt x="1310570" y="0"/>
                      <a:pt x="1329790" y="7961"/>
                      <a:pt x="1343961" y="22132"/>
                    </a:cubicBezTo>
                    <a:cubicBezTo>
                      <a:pt x="1358131" y="36303"/>
                      <a:pt x="1366092" y="55522"/>
                      <a:pt x="1366092" y="75563"/>
                    </a:cubicBezTo>
                    <a:lnTo>
                      <a:pt x="1366092" y="737237"/>
                    </a:lnTo>
                    <a:cubicBezTo>
                      <a:pt x="1366092" y="778969"/>
                      <a:pt x="1332262" y="812800"/>
                      <a:pt x="1290530" y="812800"/>
                    </a:cubicBezTo>
                    <a:lnTo>
                      <a:pt x="75563" y="812800"/>
                    </a:lnTo>
                    <a:cubicBezTo>
                      <a:pt x="33831" y="812800"/>
                      <a:pt x="0" y="778969"/>
                      <a:pt x="0" y="737237"/>
                    </a:cubicBezTo>
                    <a:lnTo>
                      <a:pt x="0" y="75563"/>
                    </a:lnTo>
                    <a:cubicBezTo>
                      <a:pt x="0" y="33831"/>
                      <a:pt x="33831" y="0"/>
                      <a:pt x="7556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366092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5321" y="712581"/>
              <a:ext cx="6187586" cy="2921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highest 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revenue producing countries are India, China and the United States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35629" y="1572822"/>
            <a:ext cx="5623671" cy="3345981"/>
            <a:chOff x="0" y="0"/>
            <a:chExt cx="7498227" cy="446130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498227" cy="4461308"/>
              <a:chOff x="0" y="0"/>
              <a:chExt cx="136609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6609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66092" h="812800">
                    <a:moveTo>
                      <a:pt x="75563" y="0"/>
                    </a:moveTo>
                    <a:lnTo>
                      <a:pt x="1290530" y="0"/>
                    </a:lnTo>
                    <a:cubicBezTo>
                      <a:pt x="1310570" y="0"/>
                      <a:pt x="1329790" y="7961"/>
                      <a:pt x="1343961" y="22132"/>
                    </a:cubicBezTo>
                    <a:cubicBezTo>
                      <a:pt x="1358131" y="36303"/>
                      <a:pt x="1366092" y="55522"/>
                      <a:pt x="1366092" y="75563"/>
                    </a:cubicBezTo>
                    <a:lnTo>
                      <a:pt x="1366092" y="737237"/>
                    </a:lnTo>
                    <a:cubicBezTo>
                      <a:pt x="1366092" y="778969"/>
                      <a:pt x="1332262" y="812800"/>
                      <a:pt x="1290530" y="812800"/>
                    </a:cubicBezTo>
                    <a:lnTo>
                      <a:pt x="75563" y="812800"/>
                    </a:lnTo>
                    <a:cubicBezTo>
                      <a:pt x="33831" y="812800"/>
                      <a:pt x="0" y="778969"/>
                      <a:pt x="0" y="737237"/>
                    </a:cubicBezTo>
                    <a:lnTo>
                      <a:pt x="0" y="75563"/>
                    </a:lnTo>
                    <a:cubicBezTo>
                      <a:pt x="0" y="33831"/>
                      <a:pt x="33831" y="0"/>
                      <a:pt x="7556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366092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55321" y="1087231"/>
              <a:ext cx="6187586" cy="2172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Our top customers 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are in India, United States and Argentina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35629" y="5368197"/>
            <a:ext cx="5623671" cy="3345981"/>
            <a:chOff x="0" y="0"/>
            <a:chExt cx="7498227" cy="446130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498227" cy="4461308"/>
              <a:chOff x="0" y="0"/>
              <a:chExt cx="1366092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36609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66092" h="812800">
                    <a:moveTo>
                      <a:pt x="75563" y="0"/>
                    </a:moveTo>
                    <a:lnTo>
                      <a:pt x="1290530" y="0"/>
                    </a:lnTo>
                    <a:cubicBezTo>
                      <a:pt x="1310570" y="0"/>
                      <a:pt x="1329790" y="7961"/>
                      <a:pt x="1343961" y="22132"/>
                    </a:cubicBezTo>
                    <a:cubicBezTo>
                      <a:pt x="1358131" y="36303"/>
                      <a:pt x="1366092" y="55522"/>
                      <a:pt x="1366092" y="75563"/>
                    </a:cubicBezTo>
                    <a:lnTo>
                      <a:pt x="1366092" y="737237"/>
                    </a:lnTo>
                    <a:cubicBezTo>
                      <a:pt x="1366092" y="778969"/>
                      <a:pt x="1332262" y="812800"/>
                      <a:pt x="1290530" y="812800"/>
                    </a:cubicBezTo>
                    <a:lnTo>
                      <a:pt x="75563" y="812800"/>
                    </a:lnTo>
                    <a:cubicBezTo>
                      <a:pt x="33831" y="812800"/>
                      <a:pt x="0" y="778969"/>
                      <a:pt x="0" y="737237"/>
                    </a:cubicBezTo>
                    <a:lnTo>
                      <a:pt x="0" y="75563"/>
                    </a:lnTo>
                    <a:cubicBezTo>
                      <a:pt x="0" y="33831"/>
                      <a:pt x="33831" y="0"/>
                      <a:pt x="75563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366092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655321" y="712581"/>
              <a:ext cx="6187586" cy="2921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Sports, Sci-Fi and Animation </a:t>
              </a:r>
              <a:r>
                <a:rPr lang="en-US" sz="2799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are to be the genres that create the most revenue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166399" y="1233825"/>
            <a:ext cx="495283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Next Steps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119231" y="804836"/>
            <a:ext cx="3345981" cy="4141146"/>
            <a:chOff x="0" y="0"/>
            <a:chExt cx="4461308" cy="552152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461308" cy="5521528"/>
              <a:chOff x="0" y="0"/>
              <a:chExt cx="812800" cy="100596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100596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00596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878960"/>
                    </a:lnTo>
                    <a:cubicBezTo>
                      <a:pt x="812800" y="912643"/>
                      <a:pt x="799420" y="944946"/>
                      <a:pt x="775603" y="968763"/>
                    </a:cubicBezTo>
                    <a:cubicBezTo>
                      <a:pt x="751785" y="992580"/>
                      <a:pt x="719482" y="1005960"/>
                      <a:pt x="685800" y="1005960"/>
                    </a:cubicBezTo>
                    <a:lnTo>
                      <a:pt x="127000" y="1005960"/>
                    </a:lnTo>
                    <a:cubicBezTo>
                      <a:pt x="56860" y="1005960"/>
                      <a:pt x="0" y="949100"/>
                      <a:pt x="0" y="87896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812800" cy="10535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54966" y="895558"/>
              <a:ext cx="3751376" cy="3654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 </a:t>
              </a:r>
              <a:r>
                <a:rPr lang="en-US" sz="23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loyalty or rewards program to incentivize high-value customers and increase retention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41463" y="804836"/>
            <a:ext cx="3345981" cy="4088454"/>
            <a:chOff x="0" y="0"/>
            <a:chExt cx="4461308" cy="545127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61308" cy="5451272"/>
              <a:chOff x="0" y="0"/>
              <a:chExt cx="812800" cy="9931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99316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9316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866160"/>
                    </a:lnTo>
                    <a:cubicBezTo>
                      <a:pt x="812800" y="936300"/>
                      <a:pt x="755940" y="993160"/>
                      <a:pt x="685800" y="993160"/>
                    </a:cubicBezTo>
                    <a:lnTo>
                      <a:pt x="127000" y="993160"/>
                    </a:lnTo>
                    <a:cubicBezTo>
                      <a:pt x="93318" y="993160"/>
                      <a:pt x="61015" y="979780"/>
                      <a:pt x="37197" y="955963"/>
                    </a:cubicBezTo>
                    <a:cubicBezTo>
                      <a:pt x="13380" y="932146"/>
                      <a:pt x="0" y="899843"/>
                      <a:pt x="0" y="86616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812800" cy="10407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4966" y="1171580"/>
              <a:ext cx="3751376" cy="3031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</a:t>
              </a:r>
              <a:r>
                <a:rPr lang="en-US" sz="23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ocalize offerings by tailoring film categories to regional preferences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30347" y="5367364"/>
            <a:ext cx="3345981" cy="4114800"/>
            <a:chOff x="0" y="0"/>
            <a:chExt cx="4461308" cy="54864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461308" cy="5486400"/>
              <a:chOff x="0" y="0"/>
              <a:chExt cx="812800" cy="999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99956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9956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872560"/>
                    </a:lnTo>
                    <a:cubicBezTo>
                      <a:pt x="812800" y="906243"/>
                      <a:pt x="799420" y="938546"/>
                      <a:pt x="775603" y="962363"/>
                    </a:cubicBezTo>
                    <a:cubicBezTo>
                      <a:pt x="751785" y="986180"/>
                      <a:pt x="719482" y="999560"/>
                      <a:pt x="685800" y="999560"/>
                    </a:cubicBezTo>
                    <a:lnTo>
                      <a:pt x="127000" y="999560"/>
                    </a:lnTo>
                    <a:cubicBezTo>
                      <a:pt x="56860" y="999560"/>
                      <a:pt x="0" y="942700"/>
                      <a:pt x="0" y="87256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812800" cy="1047185"/>
              </a:xfrm>
              <a:prstGeom prst="rect">
                <a:avLst/>
              </a:prstGeom>
            </p:spPr>
            <p:txBody>
              <a:bodyPr lIns="43106" tIns="43106" rIns="43106" bIns="43106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39068" y="566844"/>
              <a:ext cx="3183172" cy="4276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Encour</a:t>
              </a:r>
              <a:r>
                <a:rPr lang="en-US" sz="23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age a data-driven culture — train managers to interpret and act on analytical insights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52578" y="5341018"/>
            <a:ext cx="3345981" cy="4141146"/>
            <a:chOff x="0" y="0"/>
            <a:chExt cx="4461308" cy="552152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461308" cy="5521528"/>
              <a:chOff x="0" y="0"/>
              <a:chExt cx="812800" cy="10059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100596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00596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878960"/>
                    </a:lnTo>
                    <a:cubicBezTo>
                      <a:pt x="812800" y="912643"/>
                      <a:pt x="799420" y="944946"/>
                      <a:pt x="775603" y="968763"/>
                    </a:cubicBezTo>
                    <a:cubicBezTo>
                      <a:pt x="751785" y="992580"/>
                      <a:pt x="719482" y="1005960"/>
                      <a:pt x="685800" y="1005960"/>
                    </a:cubicBezTo>
                    <a:lnTo>
                      <a:pt x="127000" y="1005960"/>
                    </a:lnTo>
                    <a:cubicBezTo>
                      <a:pt x="56860" y="1005960"/>
                      <a:pt x="0" y="949100"/>
                      <a:pt x="0" y="87896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812800" cy="1053585"/>
              </a:xfrm>
              <a:prstGeom prst="rect">
                <a:avLst/>
              </a:prstGeom>
            </p:spPr>
            <p:txBody>
              <a:bodyPr lIns="43106" tIns="43106" rIns="43106" bIns="43106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39068" y="273258"/>
              <a:ext cx="3183172" cy="48988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Explore p</a:t>
              </a:r>
              <a:r>
                <a:rPr lang="en-US" sz="23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artnerships with studios to expand high-performing genres and exclusive content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63694" y="804836"/>
            <a:ext cx="3345981" cy="4141146"/>
            <a:chOff x="0" y="0"/>
            <a:chExt cx="4461308" cy="552152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4461308" cy="5521528"/>
              <a:chOff x="0" y="0"/>
              <a:chExt cx="812800" cy="10059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100596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005960">
                    <a:moveTo>
                      <a:pt x="127000" y="0"/>
                    </a:moveTo>
                    <a:lnTo>
                      <a:pt x="685800" y="0"/>
                    </a:lnTo>
                    <a:cubicBezTo>
                      <a:pt x="755940" y="0"/>
                      <a:pt x="812800" y="56860"/>
                      <a:pt x="812800" y="127000"/>
                    </a:cubicBezTo>
                    <a:lnTo>
                      <a:pt x="812800" y="878960"/>
                    </a:lnTo>
                    <a:cubicBezTo>
                      <a:pt x="812800" y="912643"/>
                      <a:pt x="799420" y="944946"/>
                      <a:pt x="775603" y="968763"/>
                    </a:cubicBezTo>
                    <a:cubicBezTo>
                      <a:pt x="751785" y="992580"/>
                      <a:pt x="719482" y="1005960"/>
                      <a:pt x="685800" y="1005960"/>
                    </a:cubicBezTo>
                    <a:lnTo>
                      <a:pt x="127000" y="1005960"/>
                    </a:lnTo>
                    <a:cubicBezTo>
                      <a:pt x="56860" y="1005960"/>
                      <a:pt x="0" y="949100"/>
                      <a:pt x="0" y="878960"/>
                    </a:cubicBezTo>
                    <a:lnTo>
                      <a:pt x="0" y="127000"/>
                    </a:lnTo>
                    <a:cubicBezTo>
                      <a:pt x="0" y="56860"/>
                      <a:pt x="56860" y="0"/>
                      <a:pt x="12700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rnd">
                <a:solidFill>
                  <a:srgbClr val="000000">
                    <a:alpha val="4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812800" cy="10535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4966" y="584408"/>
              <a:ext cx="3751376" cy="4276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80"/>
                </a:lnSpc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Launch stre</a:t>
              </a:r>
              <a:r>
                <a:rPr lang="en-US" sz="2300" u="none" strike="noStrik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aming or digital rental services in the top 10 performing countries to capitalize on strong customer bases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2868152">
            <a:off x="10484743" y="-284257"/>
            <a:ext cx="11394147" cy="10855515"/>
          </a:xfrm>
          <a:custGeom>
            <a:avLst/>
            <a:gdLst/>
            <a:ahLst/>
            <a:cxnLst/>
            <a:rect l="l" t="t" r="r" b="b"/>
            <a:pathLst>
              <a:path w="11394147" h="10855515">
                <a:moveTo>
                  <a:pt x="0" y="0"/>
                </a:moveTo>
                <a:lnTo>
                  <a:pt x="11394147" y="0"/>
                </a:lnTo>
                <a:lnTo>
                  <a:pt x="11394147" y="10855514"/>
                </a:lnTo>
                <a:lnTo>
                  <a:pt x="0" y="10855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485814" y="3524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0543" y="6090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</Words>
  <Application>Microsoft Macintosh PowerPoint</Application>
  <PresentationFormat>Custom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DM Serif Display</vt:lpstr>
      <vt:lpstr>Open Sauce Bold</vt:lpstr>
      <vt:lpstr>Arial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cp:lastModifiedBy>Sami Hafeez</cp:lastModifiedBy>
  <cp:revision>2</cp:revision>
  <dcterms:created xsi:type="dcterms:W3CDTF">2006-08-16T00:00:00Z</dcterms:created>
  <dcterms:modified xsi:type="dcterms:W3CDTF">2025-10-22T14:20:25Z</dcterms:modified>
  <dc:identifier>DAG2dmrfxjg</dc:identifier>
</cp:coreProperties>
</file>